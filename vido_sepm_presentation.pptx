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28012" y="390286"/>
            <a:ext cx="4308070" cy="764977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rPr sz="1400" dirty="0"/>
              <a:t>SOFTWARE ENGINEERING &amp; PROJECT MANAGEMENT</a:t>
            </a:r>
            <a:endParaRPr lang="en-IN" sz="1400" dirty="0"/>
          </a:p>
          <a:p>
            <a:pPr algn="ctr">
              <a:defRPr sz="1050" b="1">
                <a:solidFill>
                  <a:srgbClr val="38BDF8"/>
                </a:solidFill>
              </a:defRPr>
            </a:pPr>
            <a:r>
              <a:rPr lang="en-IN" sz="1400" dirty="0"/>
              <a:t>CIA-III</a:t>
            </a:r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8FAFC"/>
                </a:solidFill>
              </a:defRPr>
            </a:pPr>
            <a:r>
              <a:rPr dirty="0"/>
              <a:t>Volcanic Image/Data Observatory</a:t>
            </a:r>
          </a:p>
          <a:p>
            <a:pPr algn="ctr">
              <a:defRPr sz="3400" b="1">
                <a:solidFill>
                  <a:srgbClr val="38BDF8"/>
                </a:solidFill>
              </a:defRPr>
            </a:pPr>
            <a:r>
              <a:rPr dirty="0"/>
              <a:t>(VIDO)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82" y="3097351"/>
            <a:ext cx="10426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rPr dirty="0"/>
              <a:t>A Lightweight Scientific Software System for Heterogeneous Terrestrial &amp; Planetary Volcanology Exploration</a:t>
            </a:r>
            <a:endParaRPr lang="en-IN" dirty="0"/>
          </a:p>
          <a:p>
            <a:pPr>
              <a:defRPr sz="1600">
                <a:solidFill>
                  <a:srgbClr val="CBD5E1"/>
                </a:solidFill>
              </a:defRPr>
            </a:pPr>
            <a:r>
              <a:rPr lang="en-IN" dirty="0"/>
              <a:t>By Tanisha Chhetri(2462160), Shomik Sahu(2462191), Paul Jestin Abhishek(2462192)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Software Engineering &amp; Project Management (SEPM) • Final System Evaluation &amp; Audit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Application Domain: Terrestrial (Earth WGS84) &amp; Planetary Volcanology (Mars, Io, Venus)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Implementation Verification: Fully Verified Core MVP • 37 Passing Automated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1. Problem Definition: Heterogeneous Scientific Data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6" y="1225296"/>
            <a:ext cx="5242254" cy="4992624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161308"/>
            <a:ext cx="429768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sz="1400" dirty="0"/>
              <a:t>CORE ENGINEERING QUESTION</a:t>
            </a:r>
          </a:p>
          <a:p>
            <a:pPr>
              <a:spcBef>
                <a:spcPts val="800"/>
              </a:spcBef>
              <a:defRPr sz="1200" i="1">
                <a:solidFill>
                  <a:srgbClr val="F8FAFC"/>
                </a:solidFill>
              </a:defRPr>
            </a:pPr>
            <a:r>
              <a:rPr dirty="0"/>
              <a:t>“</a:t>
            </a:r>
            <a:r>
              <a:rPr sz="1200" dirty="0"/>
              <a:t>How can heterogeneous scientific observations be represented, validated, related, and explored in a coherent and maintainable software system?”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F8FAFC"/>
                </a:solidFill>
              </a:rPr>
              <a:t>• Heterogeneous Scientific Data:</a:t>
            </a:r>
            <a:r>
              <a:rPr sz="1200" dirty="0">
                <a:solidFill>
                  <a:srgbClr val="CBD5E1"/>
                </a:solidFill>
              </a:rPr>
              <a:t> Multispectral imagery, thermal radiometry, orbital geometry, and point coordinates originating from diverse instruments.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F8FAFC"/>
                </a:solidFill>
              </a:rPr>
              <a:t>• Application Domain Context:</a:t>
            </a:r>
            <a:r>
              <a:rPr sz="1200" dirty="0">
                <a:solidFill>
                  <a:srgbClr val="CBD5E1"/>
                </a:solidFill>
              </a:rPr>
              <a:t> Scientific observation datasets across Earth, Mars, Io, and Venus introducing non-standard spatial and temporal constraints.</a:t>
            </a:r>
          </a:p>
          <a:p>
            <a:pPr>
              <a:spcBef>
                <a:spcPts val="800"/>
              </a:spcBef>
            </a:pPr>
            <a:r>
              <a:rPr sz="1200" b="1" dirty="0">
                <a:solidFill>
                  <a:srgbClr val="F8FAFC"/>
                </a:solidFill>
              </a:rPr>
              <a:t>• Software Engineering Framing:</a:t>
            </a:r>
            <a:r>
              <a:rPr sz="1200" dirty="0">
                <a:solidFill>
                  <a:srgbClr val="CBD5E1"/>
                </a:solidFill>
              </a:rPr>
              <a:t> Volcanology is the application domain; software design, architecture, data modeling, and verification are the primary subject.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91745" y="2556164"/>
            <a:ext cx="4585550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722"/>
                </a:solidFill>
              </a:defRPr>
            </a:pPr>
            <a:r>
              <a:rPr sz="1400" dirty="0"/>
              <a:t>PRIMARY SOFTWARE ENGINEERING CHALLENGES</a:t>
            </a:r>
          </a:p>
          <a:p>
            <a:pPr>
              <a:spcBef>
                <a:spcPts val="1000"/>
              </a:spcBef>
            </a:pPr>
            <a:r>
              <a:rPr sz="1200" b="1" dirty="0">
                <a:solidFill>
                  <a:srgbClr val="F8FAFC"/>
                </a:solidFill>
              </a:rPr>
              <a:t>• Coordinate Frame Disparities:</a:t>
            </a:r>
            <a:r>
              <a:rPr sz="1200" dirty="0">
                <a:solidFill>
                  <a:srgbClr val="CBD5E1"/>
                </a:solidFill>
              </a:rPr>
              <a:t> Standard Earth WGS84 (-180° to +180°) vs. Planetary IAU (0° to 360° Positive East) conventions.</a:t>
            </a:r>
          </a:p>
          <a:p>
            <a:pPr>
              <a:spcBef>
                <a:spcPts val="1000"/>
              </a:spcBef>
            </a:pPr>
            <a:r>
              <a:rPr sz="1200" b="1" dirty="0">
                <a:solidFill>
                  <a:srgbClr val="F8FAFC"/>
                </a:solidFill>
              </a:rPr>
              <a:t>• Schema Rigidity &amp; Bloat:</a:t>
            </a:r>
            <a:r>
              <a:rPr sz="1200" dirty="0">
                <a:solidFill>
                  <a:srgbClr val="CBD5E1"/>
                </a:solidFill>
              </a:rPr>
              <a:t> Forcing multi-sensor attributes into flat relational SQL schemas causes sparse, brittle tables with excessive NULL columns.</a:t>
            </a:r>
          </a:p>
          <a:p>
            <a:pPr>
              <a:spcBef>
                <a:spcPts val="1000"/>
              </a:spcBef>
            </a:pPr>
            <a:r>
              <a:rPr sz="1200" b="1" dirty="0">
                <a:solidFill>
                  <a:srgbClr val="F8FAFC"/>
                </a:solidFill>
              </a:rPr>
              <a:t>• Observation / Event Conflation:</a:t>
            </a:r>
            <a:r>
              <a:rPr sz="1200" dirty="0">
                <a:solidFill>
                  <a:srgbClr val="CBD5E1"/>
                </a:solidFill>
              </a:rPr>
              <a:t> Conflating observational snapshot evidence with physical eruptive events degrades domain modeling integrity.</a:t>
            </a:r>
          </a:p>
          <a:p>
            <a:pPr>
              <a:spcBef>
                <a:spcPts val="1000"/>
              </a:spcBef>
            </a:pPr>
            <a:r>
              <a:rPr sz="1200" b="1" dirty="0">
                <a:solidFill>
                  <a:srgbClr val="F8FAFC"/>
                </a:solidFill>
              </a:rPr>
              <a:t>• System Maintainability:</a:t>
            </a:r>
            <a:r>
              <a:rPr sz="1200" dirty="0">
                <a:solidFill>
                  <a:srgbClr val="CBD5E1"/>
                </a:solidFill>
              </a:rPr>
              <a:t> Delivering strict domain validation and clean data access without heavy, complex framework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2. Requirements Engineering: Functional &amp; Non-Functional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704" y="2213264"/>
            <a:ext cx="4754575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sz="1400" dirty="0"/>
              <a:t>FUNCTIONAL REQUIREMENTS (FR)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F8FAFC"/>
                </a:solidFill>
              </a:rPr>
              <a:t>• FR-01 Observation Management:</a:t>
            </a:r>
            <a:r>
              <a:rPr sz="1200" dirty="0">
                <a:solidFill>
                  <a:srgbClr val="CBD5E1"/>
                </a:solidFill>
              </a:rPr>
              <a:t> Store</a:t>
            </a:r>
            <a:r>
              <a:rPr lang="en-IN" sz="1200" dirty="0">
                <a:solidFill>
                  <a:srgbClr val="CBD5E1"/>
                </a:solidFill>
              </a:rPr>
              <a:t> </a:t>
            </a:r>
            <a:r>
              <a:rPr sz="1200" dirty="0">
                <a:solidFill>
                  <a:srgbClr val="CBD5E1"/>
                </a:solidFill>
              </a:rPr>
              <a:t>and manage observation records across celestial bodies.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F8FAFC"/>
                </a:solidFill>
              </a:rPr>
              <a:t>• FR-02 Multi-Criteria Retrieval:</a:t>
            </a:r>
            <a:r>
              <a:rPr sz="1200" dirty="0">
                <a:solidFill>
                  <a:srgbClr val="CBD5E1"/>
                </a:solidFill>
              </a:rPr>
              <a:t> Query observations by date range, facet category, sensor source, and system.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F8FAFC"/>
                </a:solidFill>
              </a:rPr>
              <a:t>• FR-03 Event Association:</a:t>
            </a:r>
            <a:r>
              <a:rPr sz="1200" dirty="0">
                <a:solidFill>
                  <a:srgbClr val="CBD5E1"/>
                </a:solidFill>
              </a:rPr>
              <a:t> Relate observations to physical eruptive events using explicit relationship tags.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F8FAFC"/>
                </a:solidFill>
              </a:rPr>
              <a:t>• FR-04 Spatial Exploration:</a:t>
            </a:r>
            <a:r>
              <a:rPr sz="1200" dirty="0">
                <a:solidFill>
                  <a:srgbClr val="CBD5E1"/>
                </a:solidFill>
              </a:rPr>
              <a:t> Plot spatial markers on Earth Leaflet maps or 0°-360° planetary grids with fallback rules.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F8FAFC"/>
                </a:solidFill>
              </a:rPr>
              <a:t>• FR-05 Timeline Exploration:</a:t>
            </a:r>
            <a:r>
              <a:rPr sz="1200" dirty="0">
                <a:solidFill>
                  <a:srgbClr val="CBD5E1"/>
                </a:solidFill>
              </a:rPr>
              <a:t> Render synchronized dual-lane chronological timeline with ongoing event support.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F8FAFC"/>
                </a:solidFill>
              </a:rPr>
              <a:t>• FR-06 Domain Validation:</a:t>
            </a:r>
            <a:r>
              <a:rPr sz="1200" dirty="0">
                <a:solidFill>
                  <a:srgbClr val="CBD5E1"/>
                </a:solidFill>
              </a:rPr>
              <a:t> Enforce metadata facet validation and coordinate boundary rules prior to persistence.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359152"/>
            <a:ext cx="4693615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722"/>
                </a:solidFill>
              </a:defRPr>
            </a:pPr>
            <a:r>
              <a:rPr sz="1400" dirty="0"/>
              <a:t>NON-FUNCTIONAL REQUIREMENTS (NFR TARGETS)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NFR-01 Maintainability:</a:t>
            </a:r>
            <a:r>
              <a:rPr sz="1200" dirty="0">
                <a:solidFill>
                  <a:srgbClr val="CBD5E1"/>
                </a:solidFill>
              </a:rPr>
              <a:t> Layered 5-tier architecture enforcing separation of concerns across presentation, API, services, repos, and DB.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NFR-02 Extensibility:</a:t>
            </a:r>
            <a:r>
              <a:rPr sz="1200" dirty="0">
                <a:solidFill>
                  <a:srgbClr val="CBD5E1"/>
                </a:solidFill>
              </a:rPr>
              <a:t> Modular facet schemas allowing new observation types without database schema migrations.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NFR-03 Testability:</a:t>
            </a:r>
            <a:r>
              <a:rPr sz="1200" dirty="0">
                <a:solidFill>
                  <a:srgbClr val="CBD5E1"/>
                </a:solidFill>
              </a:rPr>
              <a:t> Decoupled domain service layer enabling isolated automated testing (core domain logic test suite).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NFR-04 Data Integrity:</a:t>
            </a:r>
            <a:r>
              <a:rPr sz="1200" dirty="0">
                <a:solidFill>
                  <a:srgbClr val="CBD5E1"/>
                </a:solidFill>
              </a:rPr>
              <a:t> Schema boundary validation (</a:t>
            </a:r>
            <a:r>
              <a:rPr sz="1200" dirty="0" err="1">
                <a:solidFill>
                  <a:srgbClr val="CBD5E1"/>
                </a:solidFill>
              </a:rPr>
              <a:t>Pydantic</a:t>
            </a:r>
            <a:r>
              <a:rPr sz="1200" dirty="0">
                <a:solidFill>
                  <a:srgbClr val="CBD5E1"/>
                </a:solidFill>
              </a:rPr>
              <a:t>) and database relational transaction safety.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NFR-05 Performance &amp; Modularity:</a:t>
            </a:r>
            <a:r>
              <a:rPr sz="1200" dirty="0">
                <a:solidFill>
                  <a:srgbClr val="CBD5E1"/>
                </a:solidFill>
              </a:rPr>
              <a:t> Lightweight architecture with zero heavy build tool overhead and low query latencies.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rPr dirty="0"/>
              <a:t>3. Use Case Analysis &amp; Mandatory UML 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937760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1044" y="2359152"/>
            <a:ext cx="4395355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sz="1400" dirty="0"/>
              <a:t>USE CASE MODEL &amp; USER INTERACTIONS</a:t>
            </a:r>
          </a:p>
          <a:p>
            <a:pPr>
              <a:spcBef>
                <a:spcPts val="600"/>
              </a:spcBef>
              <a:defRPr sz="1150" i="1">
                <a:solidFill>
                  <a:srgbClr val="F8FAFC"/>
                </a:solidFill>
              </a:defRPr>
            </a:pPr>
            <a:r>
              <a:rPr sz="1400" dirty="0"/>
              <a:t>“The use-case model translates functional requirements into observable interactions between the user and VIDO.”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38BDF8"/>
                </a:solidFill>
              </a:rPr>
              <a:t>• UC-01 Browse Celestial Systems:</a:t>
            </a:r>
            <a:r>
              <a:rPr sz="1200" dirty="0">
                <a:solidFill>
                  <a:srgbClr val="CBD5E1"/>
                </a:solidFill>
              </a:rPr>
              <a:t> Select target body &amp; explore system profiles.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38BDF8"/>
                </a:solidFill>
              </a:rPr>
              <a:t>• UC-02 Search &amp; Filter Observations:</a:t>
            </a:r>
            <a:r>
              <a:rPr sz="1200" dirty="0">
                <a:solidFill>
                  <a:srgbClr val="CBD5E1"/>
                </a:solidFill>
              </a:rPr>
              <a:t> Query by date, facet category, or source.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38BDF8"/>
                </a:solidFill>
              </a:rPr>
              <a:t>• UC-03 Inspect Metadata Payloads:</a:t>
            </a:r>
            <a:r>
              <a:rPr sz="1200" dirty="0">
                <a:solidFill>
                  <a:srgbClr val="CBD5E1"/>
                </a:solidFill>
              </a:rPr>
              <a:t> View validated composite metadata facets.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38BDF8"/>
                </a:solidFill>
              </a:rPr>
              <a:t>• UC-04 Associate Observations with Events:</a:t>
            </a:r>
            <a:r>
              <a:rPr sz="1200" dirty="0">
                <a:solidFill>
                  <a:srgbClr val="CBD5E1"/>
                </a:solidFill>
              </a:rPr>
              <a:t> Link evidence snapshots to eruptive events.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38BDF8"/>
                </a:solidFill>
              </a:rPr>
              <a:t>• UC-05 Explore Synchronized Timeline:</a:t>
            </a:r>
            <a:r>
              <a:rPr sz="1200" dirty="0">
                <a:solidFill>
                  <a:srgbClr val="CBD5E1"/>
                </a:solidFill>
              </a:rPr>
              <a:t> Inspect dual-lane chronological feed.</a:t>
            </a:r>
          </a:p>
          <a:p>
            <a:pPr>
              <a:spcBef>
                <a:spcPts val="500"/>
              </a:spcBef>
            </a:pPr>
            <a:r>
              <a:rPr sz="1200" b="1" dirty="0">
                <a:solidFill>
                  <a:srgbClr val="38BDF8"/>
                </a:solidFill>
              </a:rPr>
              <a:t>• UC-06 Explore Spatial Coordinates:</a:t>
            </a:r>
            <a:r>
              <a:rPr sz="1200" dirty="0">
                <a:solidFill>
                  <a:srgbClr val="CBD5E1"/>
                </a:solidFill>
              </a:rPr>
              <a:t> Render markers with spatial fallback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63040"/>
            <a:ext cx="5608015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1570025"/>
            <a:ext cx="5242255" cy="4465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4. Requirements Traceability: FR → UC → API → Service →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73152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dirty="0"/>
              <a:t>END-TO-END SYSTEM TRACEABILITY PIPELINE</a:t>
            </a:r>
          </a:p>
          <a:p>
            <a:pPr>
              <a:spcBef>
                <a:spcPts val="300"/>
              </a:spcBef>
              <a:defRPr sz="1100" b="1">
                <a:solidFill>
                  <a:srgbClr val="F8FAFC"/>
                </a:solidFill>
              </a:defRPr>
            </a:pPr>
            <a:r>
              <a:rPr dirty="0"/>
              <a:t>Requirement (FR)   →   Use Case (UC)   →   API Endpoint   →   Service Layer   →   Repository / DB   →   </a:t>
            </a:r>
            <a:r>
              <a:rPr dirty="0" err="1"/>
              <a:t>Pytest</a:t>
            </a:r>
            <a:r>
              <a:rPr dirty="0"/>
              <a:t>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728655" cy="658368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103628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FR-01 Observation Management  |  Use Case: UC-02 / UC-03  |  API: POST /api/v1/observations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Service: ValidationService   •   Repo: ObservationRepository   •   Verification: test_models.py, test_api.py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53512"/>
            <a:ext cx="10728655" cy="658368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26664"/>
            <a:ext cx="103628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5722"/>
                </a:solidFill>
              </a:defRPr>
            </a:pPr>
            <a:r>
              <a:t>FR-02 Multi-Criteria Retrieval  |  Use Case: UC-02  |  API: GET /api/v1/observations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Service: ValidationService   •   Repo: ObservationRepository   •   Verification: test_api.py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66744"/>
            <a:ext cx="10728655" cy="658368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39896"/>
            <a:ext cx="103628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FR-03 Event Association  |  Use Case: UC-04  |  API: POST /api/v1/observation-event-links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Service: EventService   •   Repo: ObservationEventLinkRepository   •   Verification: test_domain_rules.py, test_services.py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79976"/>
            <a:ext cx="10728655" cy="658368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53128"/>
            <a:ext cx="103628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5722"/>
                </a:solidFill>
              </a:defRPr>
            </a:pPr>
            <a:r>
              <a:t>FR-04 Spatial Exploration  |  Use Case: UC-06  |  API: GET /api/v1/systems/{id}/spatial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Service: SpatialService / CoordinateService   •   Repo: VolcanicSystemRepository / ObservationRepo   •   Verification: test_domain_rules.py, test_repositories.py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93208"/>
            <a:ext cx="10728655" cy="658368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FR-05 Timeline Exploration  |  Use Case: UC-05  |  API: GET /api/v1/systems/{id}/timeline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t>Service: TimelineService   •   Repo: VolcanicEventRepository / ObservationRepo   •   Verification: test_services.py, test_api.py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10728655" cy="658368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879592"/>
            <a:ext cx="10362895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5722"/>
                </a:solidFill>
              </a:defRPr>
            </a:pPr>
            <a:r>
              <a:rPr dirty="0"/>
              <a:t>FR-06 Domain Validation  |  Use Case: UC-02 / UC-03  |  API: </a:t>
            </a:r>
            <a:r>
              <a:rPr dirty="0" err="1"/>
              <a:t>Pydantic</a:t>
            </a:r>
            <a:r>
              <a:rPr dirty="0"/>
              <a:t> API Schemas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</a:defRPr>
            </a:pPr>
            <a:r>
              <a:rPr dirty="0"/>
              <a:t>Service: </a:t>
            </a:r>
            <a:r>
              <a:rPr dirty="0" err="1"/>
              <a:t>ValidationService</a:t>
            </a:r>
            <a:r>
              <a:rPr dirty="0"/>
              <a:t> / </a:t>
            </a:r>
            <a:r>
              <a:rPr dirty="0" err="1"/>
              <a:t>CoordinateService</a:t>
            </a:r>
            <a:r>
              <a:rPr dirty="0"/>
              <a:t>   •   </a:t>
            </a:r>
            <a:r>
              <a:rPr lang="en-IN" sz="1050" dirty="0">
                <a:solidFill>
                  <a:srgbClr val="CBD5E1"/>
                </a:solidFill>
              </a:rPr>
              <a:t>Persistence: Blocked until validation succeeds</a:t>
            </a:r>
            <a:r>
              <a:rPr dirty="0"/>
              <a:t>•   Verification: test_models.py, test_domain_rules.py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5. Software Design &amp; Mandatory UML Class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937760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1827" y="1554480"/>
            <a:ext cx="4374573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sz="1400" dirty="0"/>
              <a:t>DOMAIN CLASS MODEL &amp; RELATIONSHIPS</a:t>
            </a:r>
          </a:p>
          <a:p>
            <a:pPr>
              <a:spcBef>
                <a:spcPts val="600"/>
              </a:spcBef>
              <a:defRPr sz="1100" i="1">
                <a:solidFill>
                  <a:srgbClr val="F8FAFC"/>
                </a:solidFill>
              </a:defRPr>
            </a:pPr>
            <a:r>
              <a:rPr sz="1600" dirty="0"/>
              <a:t>“Separating observations from physical events preserves distinct lifecycles and attributes while </a:t>
            </a:r>
            <a:r>
              <a:rPr sz="1600" dirty="0" err="1"/>
              <a:t>ObservationEventLink</a:t>
            </a:r>
            <a:r>
              <a:rPr sz="1600" dirty="0"/>
              <a:t> provides explicit association.”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38BDF8"/>
                </a:solidFill>
              </a:rPr>
              <a:t>• </a:t>
            </a:r>
            <a:r>
              <a:rPr sz="1200" b="1" dirty="0" err="1">
                <a:solidFill>
                  <a:srgbClr val="38BDF8"/>
                </a:solidFill>
              </a:rPr>
              <a:t>CelestialBody</a:t>
            </a:r>
            <a:r>
              <a:rPr sz="1200" b="1" dirty="0">
                <a:solidFill>
                  <a:srgbClr val="38BDF8"/>
                </a:solidFill>
              </a:rPr>
              <a:t> (1 → * </a:t>
            </a:r>
            <a:r>
              <a:rPr sz="1200" b="1" dirty="0" err="1">
                <a:solidFill>
                  <a:srgbClr val="38BDF8"/>
                </a:solidFill>
              </a:rPr>
              <a:t>VolcanicSystem</a:t>
            </a:r>
            <a:r>
              <a:rPr sz="1200" b="1" dirty="0">
                <a:solidFill>
                  <a:srgbClr val="38BDF8"/>
                </a:solidFill>
              </a:rPr>
              <a:t>): </a:t>
            </a:r>
            <a:r>
              <a:rPr sz="1200" dirty="0">
                <a:solidFill>
                  <a:srgbClr val="CBD5E1"/>
                </a:solidFill>
              </a:rPr>
              <a:t> Planet/Moon container establishing coordinate convention.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38BDF8"/>
                </a:solidFill>
              </a:rPr>
              <a:t>• </a:t>
            </a:r>
            <a:r>
              <a:rPr sz="1200" b="1" dirty="0" err="1">
                <a:solidFill>
                  <a:srgbClr val="38BDF8"/>
                </a:solidFill>
              </a:rPr>
              <a:t>VolcanicSystem</a:t>
            </a:r>
            <a:r>
              <a:rPr sz="1200" b="1" dirty="0">
                <a:solidFill>
                  <a:srgbClr val="38BDF8"/>
                </a:solidFill>
              </a:rPr>
              <a:t> (1 → * Observation): </a:t>
            </a:r>
            <a:r>
              <a:rPr sz="1200" dirty="0">
                <a:solidFill>
                  <a:srgbClr val="CBD5E1"/>
                </a:solidFill>
              </a:rPr>
              <a:t> Volcanic feature defining geographic base coordinates.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38BDF8"/>
                </a:solidFill>
              </a:rPr>
              <a:t>• </a:t>
            </a:r>
            <a:r>
              <a:rPr sz="1200" b="1" dirty="0" err="1">
                <a:solidFill>
                  <a:srgbClr val="38BDF8"/>
                </a:solidFill>
              </a:rPr>
              <a:t>ObservationSource</a:t>
            </a:r>
            <a:r>
              <a:rPr sz="1200" b="1" dirty="0">
                <a:solidFill>
                  <a:srgbClr val="38BDF8"/>
                </a:solidFill>
              </a:rPr>
              <a:t> (1 → * Observation): </a:t>
            </a:r>
            <a:r>
              <a:rPr sz="1200" dirty="0">
                <a:solidFill>
                  <a:srgbClr val="CBD5E1"/>
                </a:solidFill>
              </a:rPr>
              <a:t> Sensor platform or operating scientific agency.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38BDF8"/>
                </a:solidFill>
              </a:rPr>
              <a:t>• Observation (1 → * Link): </a:t>
            </a:r>
            <a:r>
              <a:rPr sz="1200" dirty="0">
                <a:solidFill>
                  <a:srgbClr val="CBD5E1"/>
                </a:solidFill>
              </a:rPr>
              <a:t> Point-in-time observational evidence snapshot with metadata.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38BDF8"/>
                </a:solidFill>
              </a:rPr>
              <a:t>• </a:t>
            </a:r>
            <a:r>
              <a:rPr sz="1200" b="1" dirty="0" err="1">
                <a:solidFill>
                  <a:srgbClr val="38BDF8"/>
                </a:solidFill>
              </a:rPr>
              <a:t>VolcanicEvent</a:t>
            </a:r>
            <a:r>
              <a:rPr sz="1200" b="1" dirty="0">
                <a:solidFill>
                  <a:srgbClr val="38BDF8"/>
                </a:solidFill>
              </a:rPr>
              <a:t> (1 → * Link): </a:t>
            </a:r>
            <a:r>
              <a:rPr sz="1200" dirty="0">
                <a:solidFill>
                  <a:srgbClr val="CBD5E1"/>
                </a:solidFill>
              </a:rPr>
              <a:t> Physical eruptive episode with duration (</a:t>
            </a:r>
            <a:r>
              <a:rPr sz="1200" dirty="0" err="1">
                <a:solidFill>
                  <a:srgbClr val="CBD5E1"/>
                </a:solidFill>
              </a:rPr>
              <a:t>start_time</a:t>
            </a:r>
            <a:r>
              <a:rPr sz="1200" dirty="0">
                <a:solidFill>
                  <a:srgbClr val="CBD5E1"/>
                </a:solidFill>
              </a:rPr>
              <a:t>, </a:t>
            </a:r>
            <a:r>
              <a:rPr sz="1200" dirty="0" err="1">
                <a:solidFill>
                  <a:srgbClr val="CBD5E1"/>
                </a:solidFill>
              </a:rPr>
              <a:t>end_time</a:t>
            </a:r>
            <a:r>
              <a:rPr sz="1200" dirty="0">
                <a:solidFill>
                  <a:srgbClr val="CBD5E1"/>
                </a:solidFill>
              </a:rPr>
              <a:t>).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38BDF8"/>
                </a:solidFill>
              </a:rPr>
              <a:t>• </a:t>
            </a:r>
            <a:r>
              <a:rPr sz="1200" b="1" dirty="0" err="1">
                <a:solidFill>
                  <a:srgbClr val="38BDF8"/>
                </a:solidFill>
              </a:rPr>
              <a:t>ObservationEventLink</a:t>
            </a:r>
            <a:r>
              <a:rPr sz="1200" b="1" dirty="0">
                <a:solidFill>
                  <a:srgbClr val="38BDF8"/>
                </a:solidFill>
              </a:rPr>
              <a:t>: </a:t>
            </a:r>
            <a:r>
              <a:rPr sz="1200" dirty="0">
                <a:solidFill>
                  <a:srgbClr val="CBD5E1"/>
                </a:solidFill>
              </a:rPr>
              <a:t> Explicit junction entity connecting observations to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63040"/>
            <a:ext cx="5608015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340821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6. Composite Metadata Facet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7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7918" y="2504208"/>
            <a:ext cx="4661362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sz="1400" dirty="0"/>
              <a:t>MODULAR FACET COMPOSITION PATTERN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F8FAFC"/>
                </a:solidFill>
              </a:rPr>
              <a:t>• Observation Facet Structure: </a:t>
            </a:r>
            <a:r>
              <a:rPr sz="1200" dirty="0">
                <a:solidFill>
                  <a:srgbClr val="CBD5E1"/>
                </a:solidFill>
              </a:rPr>
              <a:t> Observation entity encapsulates non-mutually-exclusive metadata facets rather than rigid subclassing.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F8FAFC"/>
                </a:solidFill>
              </a:rPr>
              <a:t>• IMAGE Facet: </a:t>
            </a:r>
            <a:r>
              <a:rPr sz="1200" dirty="0">
                <a:solidFill>
                  <a:srgbClr val="CBD5E1"/>
                </a:solidFill>
              </a:rPr>
              <a:t> Spectral band, spatial resolution (m), cloud cover %, file format, sun elevation angle.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F8FAFC"/>
                </a:solidFill>
              </a:rPr>
              <a:t>• THERMAL Facet: </a:t>
            </a:r>
            <a:r>
              <a:rPr sz="1200" dirty="0">
                <a:solidFill>
                  <a:srgbClr val="CBD5E1"/>
                </a:solidFill>
              </a:rPr>
              <a:t> Brightness temperature (K), ambient temp (K), thermal flux (MW), anomaly flag.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F8FAFC"/>
                </a:solidFill>
              </a:rPr>
              <a:t>• PLANETARY_ORBITAL Facet: </a:t>
            </a:r>
            <a:r>
              <a:rPr sz="1200" dirty="0">
                <a:solidFill>
                  <a:srgbClr val="CBD5E1"/>
                </a:solidFill>
              </a:rPr>
              <a:t> Spacecraft altitude (km), solar incidence angle, emission angle, target planetary datum.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F8FAFC"/>
                </a:solidFill>
              </a:rPr>
              <a:t>• Validation Guarantee: </a:t>
            </a:r>
            <a:r>
              <a:rPr sz="1200" dirty="0">
                <a:solidFill>
                  <a:srgbClr val="CBD5E1"/>
                </a:solidFill>
              </a:rPr>
              <a:t> </a:t>
            </a:r>
            <a:r>
              <a:rPr sz="1200" dirty="0" err="1">
                <a:solidFill>
                  <a:srgbClr val="CBD5E1"/>
                </a:solidFill>
              </a:rPr>
              <a:t>Pydantic</a:t>
            </a:r>
            <a:r>
              <a:rPr sz="1200" dirty="0">
                <a:solidFill>
                  <a:srgbClr val="CBD5E1"/>
                </a:solidFill>
              </a:rPr>
              <a:t> v2 schemas reject malformed or out-of-bounds payloads at API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202872"/>
            <a:ext cx="4693615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rPr dirty="0"/>
              <a:t>REPRESENTATIVE COMPOSITE JSON PAYLOAD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rPr dirty="0"/>
              <a:t>{</a:t>
            </a:r>
            <a:br>
              <a:rPr dirty="0"/>
            </a:br>
            <a:r>
              <a:rPr dirty="0"/>
              <a:t>  "</a:t>
            </a:r>
            <a:r>
              <a:rPr dirty="0" err="1"/>
              <a:t>active_facets</a:t>
            </a:r>
            <a:r>
              <a:rPr dirty="0"/>
              <a:t>": [</a:t>
            </a:r>
            <a:br>
              <a:rPr dirty="0"/>
            </a:br>
            <a:r>
              <a:rPr dirty="0"/>
              <a:t>    "IMAGE", "THERMAL", "PLANETARY_ORBITAL"</a:t>
            </a:r>
            <a:br>
              <a:rPr dirty="0"/>
            </a:br>
            <a:r>
              <a:rPr dirty="0"/>
              <a:t>  ],</a:t>
            </a:r>
            <a:br>
              <a:rPr dirty="0"/>
            </a:br>
            <a:r>
              <a:rPr dirty="0"/>
              <a:t>  "</a:t>
            </a:r>
            <a:r>
              <a:rPr dirty="0" err="1"/>
              <a:t>image_metadata</a:t>
            </a:r>
            <a:r>
              <a:rPr dirty="0"/>
              <a:t>": {</a:t>
            </a:r>
            <a:br>
              <a:rPr dirty="0"/>
            </a:br>
            <a:r>
              <a:rPr dirty="0"/>
              <a:t>    "</a:t>
            </a:r>
            <a:r>
              <a:rPr dirty="0" err="1"/>
              <a:t>spectral_band</a:t>
            </a:r>
            <a:r>
              <a:rPr dirty="0"/>
              <a:t>": "NEAR_INFRARED",</a:t>
            </a:r>
            <a:br>
              <a:rPr dirty="0"/>
            </a:br>
            <a:r>
              <a:rPr dirty="0"/>
              <a:t>    "</a:t>
            </a:r>
            <a:r>
              <a:rPr dirty="0" err="1"/>
              <a:t>spatial_resolution_m</a:t>
            </a:r>
            <a:r>
              <a:rPr dirty="0"/>
              <a:t>": 10.0,</a:t>
            </a:r>
            <a:br>
              <a:rPr dirty="0"/>
            </a:br>
            <a:r>
              <a:rPr dirty="0"/>
              <a:t>    "</a:t>
            </a:r>
            <a:r>
              <a:rPr dirty="0" err="1"/>
              <a:t>cloud_cover_percentage</a:t>
            </a:r>
            <a:r>
              <a:rPr dirty="0"/>
              <a:t>": 0.0</a:t>
            </a:r>
            <a:br>
              <a:rPr dirty="0"/>
            </a:br>
            <a:r>
              <a:rPr dirty="0"/>
              <a:t>  },</a:t>
            </a:r>
            <a:br>
              <a:rPr dirty="0"/>
            </a:br>
            <a:r>
              <a:rPr dirty="0"/>
              <a:t>  "</a:t>
            </a:r>
            <a:r>
              <a:rPr dirty="0" err="1"/>
              <a:t>thermal_metadata</a:t>
            </a:r>
            <a:r>
              <a:rPr dirty="0"/>
              <a:t>": {</a:t>
            </a:r>
            <a:br>
              <a:rPr dirty="0"/>
            </a:br>
            <a:r>
              <a:rPr dirty="0"/>
              <a:t>    "</a:t>
            </a:r>
            <a:r>
              <a:rPr dirty="0" err="1"/>
              <a:t>brightness_temperature_kelvin</a:t>
            </a:r>
            <a:r>
              <a:rPr dirty="0"/>
              <a:t>": 245.5,</a:t>
            </a:r>
            <a:br>
              <a:rPr dirty="0"/>
            </a:br>
            <a:r>
              <a:rPr dirty="0"/>
              <a:t>    "</a:t>
            </a:r>
            <a:r>
              <a:rPr dirty="0" err="1"/>
              <a:t>thermal_flux_mw</a:t>
            </a:r>
            <a:r>
              <a:rPr dirty="0"/>
              <a:t>": 12.4,</a:t>
            </a:r>
            <a:br>
              <a:rPr dirty="0"/>
            </a:br>
            <a:r>
              <a:rPr dirty="0"/>
              <a:t>    "</a:t>
            </a:r>
            <a:r>
              <a:rPr dirty="0" err="1"/>
              <a:t>anomaly_flag</a:t>
            </a:r>
            <a:r>
              <a:rPr dirty="0"/>
              <a:t>": false</a:t>
            </a:r>
            <a:br>
              <a:rPr dirty="0"/>
            </a:br>
            <a:r>
              <a:rPr dirty="0"/>
              <a:t>  },</a:t>
            </a:r>
            <a:br>
              <a:rPr dirty="0"/>
            </a:br>
            <a:r>
              <a:rPr dirty="0"/>
              <a:t>  "</a:t>
            </a:r>
            <a:r>
              <a:rPr dirty="0" err="1"/>
              <a:t>orbital_metadata</a:t>
            </a:r>
            <a:r>
              <a:rPr dirty="0"/>
              <a:t>": {</a:t>
            </a:r>
            <a:br>
              <a:rPr dirty="0"/>
            </a:br>
            <a:r>
              <a:rPr dirty="0"/>
              <a:t>    "</a:t>
            </a:r>
            <a:r>
              <a:rPr dirty="0" err="1"/>
              <a:t>spacecraft_altitude_km</a:t>
            </a:r>
            <a:r>
              <a:rPr dirty="0"/>
              <a:t>": 310.5,</a:t>
            </a:r>
            <a:br>
              <a:rPr dirty="0"/>
            </a:br>
            <a:r>
              <a:rPr dirty="0"/>
              <a:t>    "</a:t>
            </a:r>
            <a:r>
              <a:rPr dirty="0" err="1"/>
              <a:t>solar_incidence_angle_deg</a:t>
            </a:r>
            <a:r>
              <a:rPr dirty="0"/>
              <a:t>": 62.1,</a:t>
            </a:r>
            <a:br>
              <a:rPr dirty="0"/>
            </a:br>
            <a:r>
              <a:rPr dirty="0"/>
              <a:t>    "</a:t>
            </a:r>
            <a:r>
              <a:rPr dirty="0" err="1"/>
              <a:t>target_planetary_datum</a:t>
            </a:r>
            <a:r>
              <a:rPr dirty="0"/>
              <a:t>": "IAU_MARS_2000"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7. System Architecture: 5-Layer Software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8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Presentation Layer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Vanilla HTML5 / CSS3 / ES6 JS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18288" cy="594360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Renders responsive web UI, Leaflet Earth maps, Canvas 2D planetary grids, and interactive timeline visualizers without heavy frontend build tool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722"/>
                </a:solidFill>
              </a:defRPr>
            </a:pPr>
            <a:r>
              <a:t>API Layer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Python FastAPI REST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560320"/>
            <a:ext cx="18288" cy="594360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Exposes REST endpoints (/api/v1), serializes request/response payloads, executes Pydantic schema boundary validation, handles HTTP status routing, and serves Swagger OpenAPI docs.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49300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Service Layer — Business &amp; Domain Logic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Domain &amp; Business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520440"/>
            <a:ext cx="18288" cy="594360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52044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Executes domain/business validation, coordinate resolution, spatial fallback rules, event rules, and timeline aggregation.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45312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Repository Layer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Data Access Abstraction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480560"/>
            <a:ext cx="18288" cy="594360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448056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Encapsulates database SQL operations, providing clean, decoupled interfaces for systems, observations, events, and association links.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41324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Database Layer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SQLite 3 Relational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5440680"/>
            <a:ext cx="18288" cy="594360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544068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Provides persistent, ACID-compliant storage with SQLite 3 JSON1 support for composite observation metadata facets.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8. Design Decisions &amp; Engineering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Relational Core + JSON Metadata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Combines SQL relational structure with SQLite JSON1 metadata fields. Prevents schema rigidity while retaining query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64592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722"/>
                </a:solidFill>
              </a:defRPr>
            </a:pPr>
            <a:r>
              <a:t>Decoupled Obs &amp; Event Entities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Models observations (evidence snapshots) separately from events (phenomena). Prevents data loss when linking multi-event observations.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64592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Body-Specific Coordinate Handling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Enforces Earth WGS84 (-180°..+180°) vs. Planetary IAU (0°..360° Positive East) conventions. Prevents spatial projection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328416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Explicit Spatial Fallback Rules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Applies a 3-step fallback pipeline (Obs Coords → Volcano Coords → UNLOCATED). Prevents coordinate fabrication.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4023360"/>
            <a:ext cx="3328416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8576" y="420624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Service / Repository Abstraction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Decouples business logic from persistence logic. Prevents SQL leaks into API controllers and enables unit test isolation.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4023360"/>
            <a:ext cx="3328416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4206240"/>
            <a:ext cx="29626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722"/>
                </a:solidFill>
              </a:defRPr>
            </a:pPr>
            <a:r>
              <a:t>Conservative MVP Scope Boundary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Focuses on robust core domain modeling, API, and validation rather than unverified complex modules. Prevents scope creep.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9. Validation &amp; Business Rules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sz="1400" dirty="0"/>
              <a:t>TIER 1: API SCHEMA VALIDATION (PYDANTIC)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Boundary Schema Enforcement: </a:t>
            </a:r>
            <a:r>
              <a:rPr sz="1200" dirty="0">
                <a:solidFill>
                  <a:srgbClr val="CBD5E1"/>
                </a:solidFill>
              </a:rPr>
              <a:t> Validates request JSON payloads at API entry points before database invocation.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Attribute Type Checking: </a:t>
            </a:r>
            <a:r>
              <a:rPr sz="1200" dirty="0">
                <a:solidFill>
                  <a:srgbClr val="CBD5E1"/>
                </a:solidFill>
              </a:rPr>
              <a:t> Guarantees correct string, float, integer, and datetime field formatting.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Facet Payload Validation: </a:t>
            </a:r>
            <a:r>
              <a:rPr sz="1200" dirty="0">
                <a:solidFill>
                  <a:srgbClr val="CBD5E1"/>
                </a:solidFill>
              </a:rPr>
              <a:t> Validates nested </a:t>
            </a:r>
            <a:r>
              <a:rPr sz="1200" dirty="0" err="1">
                <a:solidFill>
                  <a:srgbClr val="CBD5E1"/>
                </a:solidFill>
              </a:rPr>
              <a:t>image_metadata</a:t>
            </a:r>
            <a:r>
              <a:rPr sz="1200" dirty="0">
                <a:solidFill>
                  <a:srgbClr val="CBD5E1"/>
                </a:solidFill>
              </a:rPr>
              <a:t>, </a:t>
            </a:r>
            <a:r>
              <a:rPr sz="1200" dirty="0" err="1">
                <a:solidFill>
                  <a:srgbClr val="CBD5E1"/>
                </a:solidFill>
              </a:rPr>
              <a:t>thermal_metadata</a:t>
            </a:r>
            <a:r>
              <a:rPr sz="1200" dirty="0">
                <a:solidFill>
                  <a:srgbClr val="CBD5E1"/>
                </a:solidFill>
              </a:rPr>
              <a:t>, and </a:t>
            </a:r>
            <a:r>
              <a:rPr sz="1200" dirty="0" err="1">
                <a:solidFill>
                  <a:srgbClr val="CBD5E1"/>
                </a:solidFill>
              </a:rPr>
              <a:t>orbital_metadata</a:t>
            </a:r>
            <a:r>
              <a:rPr sz="1200" dirty="0">
                <a:solidFill>
                  <a:srgbClr val="CBD5E1"/>
                </a:solidFill>
              </a:rPr>
              <a:t> objects.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Value Range Rules: </a:t>
            </a:r>
            <a:r>
              <a:rPr sz="1200" dirty="0">
                <a:solidFill>
                  <a:srgbClr val="CBD5E1"/>
                </a:solidFill>
              </a:rPr>
              <a:t> Rejects negative Kelvin temperatures, out-of-range sensor angles, or invalid file extensions.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73431"/>
            <a:ext cx="5242255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76495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722"/>
                </a:solidFill>
              </a:defRPr>
            </a:pPr>
            <a:r>
              <a:rPr sz="1400" dirty="0"/>
              <a:t>TIER 2: DOMAIN &amp; BUSINESS RULE VALIDATION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→ Body Coordinate Boundary Checks: </a:t>
            </a:r>
            <a:r>
              <a:rPr sz="1200" dirty="0">
                <a:solidFill>
                  <a:srgbClr val="CBD5E1"/>
                </a:solidFill>
              </a:rPr>
              <a:t> Enforces Earth WGS84 (-180°..+180°) vs. Planetary IAU (0°..360° Positive East) bounds.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→ Temporal Event Sequence Rules: </a:t>
            </a:r>
            <a:r>
              <a:rPr sz="1200" dirty="0">
                <a:solidFill>
                  <a:srgbClr val="CBD5E1"/>
                </a:solidFill>
              </a:rPr>
              <a:t> Ensures event </a:t>
            </a:r>
            <a:r>
              <a:rPr sz="1200" dirty="0" err="1">
                <a:solidFill>
                  <a:srgbClr val="CBD5E1"/>
                </a:solidFill>
              </a:rPr>
              <a:t>end_time</a:t>
            </a:r>
            <a:r>
              <a:rPr sz="1200" dirty="0">
                <a:solidFill>
                  <a:srgbClr val="CBD5E1"/>
                </a:solidFill>
              </a:rPr>
              <a:t> cannot precede </a:t>
            </a:r>
            <a:r>
              <a:rPr sz="1200" dirty="0" err="1">
                <a:solidFill>
                  <a:srgbClr val="CBD5E1"/>
                </a:solidFill>
              </a:rPr>
              <a:t>start_time</a:t>
            </a:r>
            <a:r>
              <a:rPr sz="1200" dirty="0">
                <a:solidFill>
                  <a:srgbClr val="CBD5E1"/>
                </a:solidFill>
              </a:rPr>
              <a:t> (when </a:t>
            </a:r>
            <a:r>
              <a:rPr sz="1200" dirty="0" err="1">
                <a:solidFill>
                  <a:srgbClr val="CBD5E1"/>
                </a:solidFill>
              </a:rPr>
              <a:t>end_time</a:t>
            </a:r>
            <a:r>
              <a:rPr sz="1200" dirty="0">
                <a:solidFill>
                  <a:srgbClr val="CBD5E1"/>
                </a:solidFill>
              </a:rPr>
              <a:t> is provided).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→ Relationship Classification Rules: </a:t>
            </a:r>
            <a:r>
              <a:rPr sz="1200" dirty="0">
                <a:solidFill>
                  <a:srgbClr val="CBD5E1"/>
                </a:solidFill>
              </a:rPr>
              <a:t> Enforces valid Observation ↔ Event tags (PRE_ERUPTIVE, CO_ERUPTIVE, POST_ERUPTIVE, UNRELATED).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→ Spatial Fallback Resolution: </a:t>
            </a:r>
            <a:r>
              <a:rPr sz="1200" dirty="0">
                <a:solidFill>
                  <a:srgbClr val="CBD5E1"/>
                </a:solidFill>
              </a:rPr>
              <a:t> Classifies coordinates into OBSERVATION, VOLCANO_FALLBACK, or UNLOCATED states cleanly.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10. Development Process: Phased SDLC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1. Problem Definition &amp; SRS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Formalized engineering problem statement and compiled Software Requirements Specification.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68880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60020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5722"/>
                </a:solidFill>
              </a:defRPr>
            </a:pPr>
            <a:r>
              <a:t>2. Requirements Audit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Audited domain parameters and mapped functional vs. non-functional requirement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</a:defRPr>
            </a:pPr>
            <a:r>
              <a:t>3. Data Layer &amp; Entities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Designed SQLite relational tables, JSON metadata fields, and Pydantic validation schemas.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63040"/>
            <a:ext cx="2468880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60020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4. Business Logic Services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Implemented coordinate resolution, spatial fallback rules, event rules, and timeline aggregation.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2468880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5. API Layer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Exposed REST endpoints (/api/v1) with OpenAPI Swagger docs and robust HTTP error routing.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023360"/>
            <a:ext cx="2468880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416052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5722"/>
                </a:solidFill>
              </a:defRPr>
            </a:pPr>
            <a:r>
              <a:t>6. Frontend Interface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Built responsive web UI with Leaflet maps, Canvas 2D planetary grid, and timeline visualizers.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2468880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16052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7. Automated Verification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Developed pytest test suite covering API routes, domain rules, schemas, and repositories.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4023360"/>
            <a:ext cx="2468880" cy="219456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416052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4D399"/>
                </a:solidFill>
              </a:defRPr>
            </a:pPr>
            <a:r>
              <a:t>8. Presentation &amp; QC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Audited implementation claims against codebase evidence and prepared evaluation materials.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11. Scope Control &amp; Risk Management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dirty="0"/>
              <a:t>DELIBERATE SCOPE CONTROL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Implemented Core MVP Scope: </a:t>
            </a:r>
            <a:r>
              <a:rPr sz="1200" dirty="0">
                <a:solidFill>
                  <a:srgbClr val="CBD5E1"/>
                </a:solidFill>
              </a:rPr>
              <a:t> Unified domain model, multi-body CRS, composite facet validation, 5-layer pipeline, dual-lane timeline, spatial fallback visualizer, REST API, 37 automated tests.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Explicit Non-Implemented Future Scope: </a:t>
            </a:r>
            <a:r>
              <a:rPr sz="1200" dirty="0">
                <a:solidFill>
                  <a:srgbClr val="CBD5E1"/>
                </a:solidFill>
              </a:rPr>
              <a:t> Streaming satellite telemetry pipelines, computer vision thermal anomaly workers, </a:t>
            </a:r>
            <a:r>
              <a:rPr sz="1200" dirty="0" err="1">
                <a:solidFill>
                  <a:srgbClr val="CBD5E1"/>
                </a:solidFill>
              </a:rPr>
              <a:t>GeoServer</a:t>
            </a:r>
            <a:r>
              <a:rPr sz="1200" dirty="0">
                <a:solidFill>
                  <a:srgbClr val="CBD5E1"/>
                </a:solidFill>
              </a:rPr>
              <a:t> WMS integration, user authentication/authorization.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• Scope Boundary Principle: </a:t>
            </a:r>
            <a:r>
              <a:rPr sz="1200" dirty="0">
                <a:solidFill>
                  <a:srgbClr val="CBD5E1"/>
                </a:solidFill>
              </a:rPr>
              <a:t> Maintaining strict boundaries prevented unfinished features from degrading core software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76495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722"/>
                </a:solidFill>
              </a:defRPr>
            </a:pPr>
            <a:r>
              <a:rPr sz="1400" dirty="0"/>
              <a:t>RISK MITIGATION MATRIX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⚙ Heterogeneous Data Distortion Risk: </a:t>
            </a:r>
            <a:r>
              <a:rPr sz="1200" dirty="0">
                <a:solidFill>
                  <a:srgbClr val="CBD5E1"/>
                </a:solidFill>
              </a:rPr>
              <a:t> Mitigated by Composite Metadata Facet validation pattern.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⚙ Coordinate Frame Mismatch Risk: </a:t>
            </a:r>
            <a:r>
              <a:rPr sz="1200" dirty="0">
                <a:solidFill>
                  <a:srgbClr val="CBD5E1"/>
                </a:solidFill>
              </a:rPr>
              <a:t> Mitigated by </a:t>
            </a:r>
            <a:r>
              <a:rPr sz="1200" dirty="0" err="1">
                <a:solidFill>
                  <a:srgbClr val="CBD5E1"/>
                </a:solidFill>
              </a:rPr>
              <a:t>CelestialBody</a:t>
            </a:r>
            <a:r>
              <a:rPr sz="1200" dirty="0">
                <a:solidFill>
                  <a:srgbClr val="CBD5E1"/>
                </a:solidFill>
              </a:rPr>
              <a:t> explicit CRS conventions (WGS84 vs. IAU).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⚙ Observation/Event Ambiguity Risk: </a:t>
            </a:r>
            <a:r>
              <a:rPr sz="1200" dirty="0">
                <a:solidFill>
                  <a:srgbClr val="CBD5E1"/>
                </a:solidFill>
              </a:rPr>
              <a:t> Mitigated by explicit </a:t>
            </a:r>
            <a:r>
              <a:rPr sz="1200" dirty="0" err="1">
                <a:solidFill>
                  <a:srgbClr val="CBD5E1"/>
                </a:solidFill>
              </a:rPr>
              <a:t>ObservationEventLink</a:t>
            </a:r>
            <a:r>
              <a:rPr sz="1200" dirty="0">
                <a:solidFill>
                  <a:srgbClr val="CBD5E1"/>
                </a:solidFill>
              </a:rPr>
              <a:t> junction modeling.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⚙ Scope Creep Risk: </a:t>
            </a:r>
            <a:r>
              <a:rPr sz="1200" dirty="0">
                <a:solidFill>
                  <a:srgbClr val="CBD5E1"/>
                </a:solidFill>
              </a:rPr>
              <a:t> Mitigated by strict SRS specification and phase verification.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8FAFC"/>
                </a:solidFill>
              </a:rPr>
              <a:t>⚙ Regression &amp; Code Fragility Risk: </a:t>
            </a:r>
            <a:r>
              <a:rPr sz="1200" dirty="0">
                <a:solidFill>
                  <a:srgbClr val="CBD5E1"/>
                </a:solidFill>
              </a:rPr>
              <a:t> Mitigated by 37 passing automated </a:t>
            </a:r>
            <a:r>
              <a:rPr sz="1200" dirty="0" err="1">
                <a:solidFill>
                  <a:srgbClr val="CBD5E1"/>
                </a:solidFill>
              </a:rPr>
              <a:t>pytest</a:t>
            </a:r>
            <a:r>
              <a:rPr sz="1200" dirty="0">
                <a:solidFill>
                  <a:srgbClr val="CBD5E1"/>
                </a:solidFill>
              </a:rPr>
              <a:t> unit/integration tests.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12. Testing &amp; System Verification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✓ 37 / 37 AUTOMATED TESTS PASSED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Fully verified core MVP implementation across API endpoints, domain rules, metadata schemas, repositories, and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328416" cy="192024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API Endpoint Integration (15 tests)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API integration tests covering catalog, observation, event, spatial, and timeline REST endpoints.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377440"/>
            <a:ext cx="3328416" cy="192024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5146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722"/>
                </a:solidFill>
              </a:defRPr>
            </a:pPr>
            <a:r>
              <a:t>Domain Rules &amp; Boundaries (5 tests)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Validates coordinate boundary enforcement (Earth vs. Mars/Io) and temporal sequence validity.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377440"/>
            <a:ext cx="3328416" cy="192024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251460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Model &amp; Facet Schemas (6 tests)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Tests Pydantic metadata facet validation (IMAGE, THERMAL, PLANETARY_ORBITAL) rejecting illegal payloads.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3328416" cy="192024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Repository &amp; Persistence (5 tests)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Verifies SQLite 3 SQL/JSON data access, insertion transactions, and complex query filtering.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4480560"/>
            <a:ext cx="3328416" cy="192024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08576" y="461772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Business Service Logic (5 tests)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Verifies timeline aggregation logic, ongoing event handling (NULL end_time), and spatial fallback resolution.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4480560"/>
            <a:ext cx="3328416" cy="192024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461772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5722"/>
                </a:solidFill>
              </a:defRPr>
            </a:pPr>
            <a:r>
              <a:t>Seed Data Verification (1 test)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Ensures initial seed dataset across Earth, Mars, Io, and Venus populates without relational errors.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13. Implementation Demonstration: Software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Mount Etna / Earth</a:t>
            </a:r>
          </a:p>
        </p:txBody>
      </p:sp>
      <p:pic>
        <p:nvPicPr>
          <p:cNvPr id="9" name="Picture 8" descr="mount_etna_ea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3054096" cy="139906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9536" y="1956816"/>
            <a:ext cx="3072384" cy="1417353"/>
          </a:xfrm>
          <a:prstGeom prst="rect">
            <a:avLst/>
          </a:prstGeom>
          <a:noFill/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56465"/>
            <a:ext cx="296265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CBD5E1"/>
                </a:solidFill>
              </a:defRPr>
            </a:pPr>
            <a:r>
              <a:t>Leaflet Earth Map view rendering geographic spatial representation &amp; eruptive timeline feed.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1572768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Loki Patera / Io</a:t>
            </a:r>
          </a:p>
        </p:txBody>
      </p:sp>
      <p:pic>
        <p:nvPicPr>
          <p:cNvPr id="14" name="Picture 13" descr="loki_patera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1965960"/>
            <a:ext cx="3054096" cy="139906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53712" y="1956816"/>
            <a:ext cx="3072384" cy="1417353"/>
          </a:xfrm>
          <a:prstGeom prst="rect">
            <a:avLst/>
          </a:prstGeom>
          <a:noFill/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8576" y="3456465"/>
            <a:ext cx="296265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CBD5E1"/>
                </a:solidFill>
              </a:defRPr>
            </a:pPr>
            <a:r>
              <a:t>Canvas 2D Planetary Grid plotting Io thermal observations in 0°-360° Positive East CRS.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2" y="1572768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Olympus Mons / Mars</a:t>
            </a:r>
          </a:p>
        </p:txBody>
      </p:sp>
      <p:pic>
        <p:nvPicPr>
          <p:cNvPr id="19" name="Picture 18" descr="olympus_mons_m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965960"/>
            <a:ext cx="3054096" cy="139906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47888" y="1956816"/>
            <a:ext cx="3072384" cy="1417353"/>
          </a:xfrm>
          <a:prstGeom prst="rect">
            <a:avLst/>
          </a:prstGeom>
          <a:noFill/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3456465"/>
            <a:ext cx="2962656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CBD5E1"/>
                </a:solidFill>
              </a:defRPr>
            </a:pPr>
            <a:r>
              <a:t>Composite Metadata Inspector modal rendering active IMAGE, THERMAL &amp; PLANETARY_ORBITAL facets.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SOFTWARE ENGINEERING &amp; PROJECT MANAGEMENT (SEPM)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14. Team Contributions, Limitations &amp; SEPM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6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40177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SLIDE 15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sz="1400" dirty="0"/>
              <a:t>TEAM CONTRIBUTIONS &amp; LIMITATIONS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F8FAFC"/>
                </a:solidFill>
              </a:rPr>
              <a:t>• Technical Implementation: </a:t>
            </a:r>
            <a:r>
              <a:rPr sz="1200" dirty="0">
                <a:solidFill>
                  <a:srgbClr val="CBD5E1"/>
                </a:solidFill>
              </a:rPr>
              <a:t> Architecture, database schema, </a:t>
            </a:r>
            <a:r>
              <a:rPr sz="1200" dirty="0" err="1">
                <a:solidFill>
                  <a:srgbClr val="CBD5E1"/>
                </a:solidFill>
              </a:rPr>
              <a:t>FastAPI</a:t>
            </a:r>
            <a:r>
              <a:rPr sz="1200" dirty="0">
                <a:solidFill>
                  <a:srgbClr val="CBD5E1"/>
                </a:solidFill>
              </a:rPr>
              <a:t> backend, business validation services, frontend UI, and </a:t>
            </a:r>
            <a:r>
              <a:rPr sz="1200" dirty="0" err="1">
                <a:solidFill>
                  <a:srgbClr val="CBD5E1"/>
                </a:solidFill>
              </a:rPr>
              <a:t>pytest</a:t>
            </a:r>
            <a:r>
              <a:rPr sz="1200" dirty="0">
                <a:solidFill>
                  <a:srgbClr val="CBD5E1"/>
                </a:solidFill>
              </a:rPr>
              <a:t> test suite.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F8FAFC"/>
                </a:solidFill>
              </a:rPr>
              <a:t>• Documentation &amp; SRS: </a:t>
            </a:r>
            <a:r>
              <a:rPr sz="1200" dirty="0">
                <a:solidFill>
                  <a:srgbClr val="CBD5E1"/>
                </a:solidFill>
              </a:rPr>
              <a:t> Software Requirements Specification (SRS), domain requirements audit, system documentation, and architecture specifications.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F8FAFC"/>
                </a:solidFill>
              </a:rPr>
              <a:t>• Presentation &amp; QC Audit: </a:t>
            </a:r>
            <a:r>
              <a:rPr sz="1200" dirty="0">
                <a:solidFill>
                  <a:srgbClr val="CBD5E1"/>
                </a:solidFill>
              </a:rPr>
              <a:t> Presentation deck, visual alignment, speaker notes, and quality audit.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F8FAFC"/>
                </a:solidFill>
              </a:rPr>
              <a:t>• Current Scope Limitations: </a:t>
            </a:r>
            <a:r>
              <a:rPr sz="1200" dirty="0">
                <a:solidFill>
                  <a:srgbClr val="CBD5E1"/>
                </a:solidFill>
              </a:rPr>
              <a:t> Manual dataset seeding; non-automated satellite ingestion; local SQLite storage rather than distributed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31A26"/>
          </a:solidFill>
          <a:ln w="12700">
            <a:solidFill>
              <a:srgbClr val="26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76495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rPr sz="1400" dirty="0"/>
              <a:t>SEPM CONCLUSION</a:t>
            </a:r>
          </a:p>
          <a:p>
            <a:pPr>
              <a:spcBef>
                <a:spcPts val="800"/>
              </a:spcBef>
              <a:defRPr sz="1150" i="1">
                <a:solidFill>
                  <a:srgbClr val="F8FAFC"/>
                </a:solidFill>
              </a:defRPr>
            </a:pPr>
            <a:r>
              <a:rPr sz="1600" dirty="0"/>
              <a:t>“VIDO demonstrates the design and implementation of a modular scientific information system capable of representing heterogeneous observations, enforcing domain rules, relating observations to events, exposing functionality through a layered API, and supporting interactive exploration with automated verification.”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34D399"/>
                </a:solidFill>
              </a:rPr>
              <a:t>✓ Layered Architecture: </a:t>
            </a:r>
            <a:r>
              <a:rPr sz="1200" dirty="0">
                <a:solidFill>
                  <a:srgbClr val="CBD5E1"/>
                </a:solidFill>
              </a:rPr>
              <a:t> Layered pipeline enforces separation of concerns and supports data integrity and testability.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34D399"/>
                </a:solidFill>
              </a:rPr>
              <a:t>✓ Automated Verification: </a:t>
            </a:r>
            <a:r>
              <a:rPr sz="1200" dirty="0">
                <a:solidFill>
                  <a:srgbClr val="CBD5E1"/>
                </a:solidFill>
              </a:rPr>
              <a:t> 37 / 37 automated tests verify core domain rules, APIs, and repositories.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34D399"/>
                </a:solidFill>
              </a:rPr>
              <a:t>✓ Future Scope Roadmap: </a:t>
            </a:r>
            <a:r>
              <a:rPr sz="1200" dirty="0">
                <a:solidFill>
                  <a:srgbClr val="CBD5E1"/>
                </a:solidFill>
              </a:rPr>
              <a:t> Telemetry streaming pipelines, CV anomaly detection workers, </a:t>
            </a:r>
            <a:r>
              <a:rPr sz="1200" dirty="0" err="1">
                <a:solidFill>
                  <a:srgbClr val="CBD5E1"/>
                </a:solidFill>
              </a:rPr>
              <a:t>GeoServer</a:t>
            </a:r>
            <a:r>
              <a:rPr sz="1200" dirty="0">
                <a:solidFill>
                  <a:srgbClr val="CBD5E1"/>
                </a:solidFill>
              </a:rPr>
              <a:t> WMS integration, and user authorization.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2772</Words>
  <Application>Microsoft Office PowerPoint</Application>
  <PresentationFormat>Widescreen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Shomik Sahu</dc:creator>
  <cp:keywords/>
  <dc:description>generated using python-pptx</dc:description>
  <cp:lastModifiedBy>Shomik Sahu</cp:lastModifiedBy>
  <cp:revision>8</cp:revision>
  <dcterms:created xsi:type="dcterms:W3CDTF">2013-01-27T09:14:16Z</dcterms:created>
  <dcterms:modified xsi:type="dcterms:W3CDTF">2026-09-02T05:34:44Z</dcterms:modified>
  <cp:category/>
</cp:coreProperties>
</file>